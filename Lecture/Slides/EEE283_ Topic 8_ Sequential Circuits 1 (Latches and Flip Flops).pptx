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Nuni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italic.fntdata"/><Relationship Id="rId10" Type="http://schemas.openxmlformats.org/officeDocument/2006/relationships/slide" Target="slides/slide5.xml"/><Relationship Id="rId32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f181d27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f181d27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bf181d27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bf181d27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e1964c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e1964c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eebf647a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eebf647a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55df47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e55df47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e1964c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ee1964c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ee1964cd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ee1964cd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e1964cd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ee1964cd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ee1964cd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ee1964cd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ee1964cd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ee1964cd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e1964cd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ee1964cd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e1964cd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ee1964cd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ee1964cd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ee1964cd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e1964cd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ee1964cd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ebf647a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ebf647a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eebf647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eebf647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eebf647a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eebf647a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ebf647a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eebf647a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eebf647a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eebf647a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06b54a6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06b54a6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60ad221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60ad221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60ad221c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60ad221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eebf647a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eebf647a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eebf647a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eebf647a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ebf647a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eebf647a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17.png"/><Relationship Id="rId5" Type="http://schemas.openxmlformats.org/officeDocument/2006/relationships/image" Target="../media/image36.png"/><Relationship Id="rId6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1258" y="-112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EEE283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94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Logic Design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41250" y="2951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Course Instructor: A K M Anindya Alam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01225" y="1588325"/>
            <a:ext cx="8520600" cy="16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55" u="sng"/>
              <a:t>Topic 8: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Sequential Circuits 1 (Latches and Flip Flops)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Sequential Circuits</a:t>
            </a:r>
            <a:endParaRPr sz="5100"/>
          </a:p>
        </p:txBody>
      </p:sp>
      <p:sp>
        <p:nvSpPr>
          <p:cNvPr id="69" name="Google Shape;69;p15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-87925" y="988375"/>
            <a:ext cx="9144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rgbClr val="AC1F25"/>
              </a:buClr>
              <a:buSzPts val="2300"/>
              <a:buChar char="•"/>
            </a:pPr>
            <a:r>
              <a:rPr lang="en" sz="2300">
                <a:solidFill>
                  <a:srgbClr val="333E48"/>
                </a:solidFill>
              </a:rPr>
              <a:t>Outputs of sequential logic depend on current </a:t>
            </a:r>
            <a:r>
              <a:rPr i="1" lang="en" sz="2300">
                <a:solidFill>
                  <a:srgbClr val="333E48"/>
                </a:solidFill>
              </a:rPr>
              <a:t>and</a:t>
            </a:r>
            <a:r>
              <a:rPr lang="en" sz="2300">
                <a:solidFill>
                  <a:srgbClr val="333E48"/>
                </a:solidFill>
              </a:rPr>
              <a:t> prior input values – it has </a:t>
            </a:r>
            <a:r>
              <a:rPr b="1" i="1" lang="en" sz="2300">
                <a:solidFill>
                  <a:srgbClr val="333E48"/>
                </a:solidFill>
              </a:rPr>
              <a:t>memory</a:t>
            </a:r>
            <a:r>
              <a:rPr lang="en" sz="2300">
                <a:solidFill>
                  <a:srgbClr val="333E48"/>
                </a:solidFill>
              </a:rPr>
              <a:t>.</a:t>
            </a:r>
            <a:endParaRPr sz="2300">
              <a:solidFill>
                <a:srgbClr val="333E48"/>
              </a:solidFill>
            </a:endParaRPr>
          </a:p>
          <a:p>
            <a:pPr indent="-285750" lvl="0" marL="342900" rtl="0" algn="l">
              <a:spcBef>
                <a:spcPts val="600"/>
              </a:spcBef>
              <a:spcAft>
                <a:spcPts val="0"/>
              </a:spcAft>
              <a:buClr>
                <a:srgbClr val="AC1F25"/>
              </a:buClr>
              <a:buSzPts val="2300"/>
              <a:buChar char="•"/>
            </a:pPr>
            <a:r>
              <a:rPr lang="en" sz="2300">
                <a:solidFill>
                  <a:srgbClr val="333E48"/>
                </a:solidFill>
              </a:rPr>
              <a:t>Some definitions:</a:t>
            </a:r>
            <a:endParaRPr sz="2300">
              <a:solidFill>
                <a:srgbClr val="333E48"/>
              </a:solidFill>
            </a:endParaRPr>
          </a:p>
          <a:p>
            <a:pPr indent="-170498" lvl="1" marL="581343" rtl="0" algn="l">
              <a:spcBef>
                <a:spcPts val="0"/>
              </a:spcBef>
              <a:spcAft>
                <a:spcPts val="0"/>
              </a:spcAft>
              <a:buClr>
                <a:srgbClr val="AC1F25"/>
              </a:buClr>
              <a:buSzPts val="2300"/>
              <a:buChar char="•"/>
            </a:pPr>
            <a:r>
              <a:rPr b="1" lang="en" sz="2300">
                <a:solidFill>
                  <a:srgbClr val="AC1F25"/>
                </a:solidFill>
              </a:rPr>
              <a:t>State: </a:t>
            </a:r>
            <a:r>
              <a:rPr lang="en" sz="2300">
                <a:solidFill>
                  <a:srgbClr val="383838"/>
                </a:solidFill>
              </a:rPr>
              <a:t>all the information about a circuit necessary to explain its future behavior</a:t>
            </a:r>
            <a:endParaRPr sz="2300">
              <a:solidFill>
                <a:srgbClr val="383838"/>
              </a:solidFill>
            </a:endParaRPr>
          </a:p>
          <a:p>
            <a:pPr indent="-170498" lvl="1" marL="581343" rtl="0" algn="l">
              <a:spcBef>
                <a:spcPts val="0"/>
              </a:spcBef>
              <a:spcAft>
                <a:spcPts val="0"/>
              </a:spcAft>
              <a:buClr>
                <a:srgbClr val="AC1F25"/>
              </a:buClr>
              <a:buSzPts val="2300"/>
              <a:buChar char="•"/>
            </a:pPr>
            <a:r>
              <a:rPr b="1" lang="en" sz="2300">
                <a:solidFill>
                  <a:srgbClr val="AC1F25"/>
                </a:solidFill>
              </a:rPr>
              <a:t>Latches and flip-flops: </a:t>
            </a:r>
            <a:r>
              <a:rPr lang="en" sz="2300">
                <a:solidFill>
                  <a:srgbClr val="383838"/>
                </a:solidFill>
              </a:rPr>
              <a:t>state elements that store one bit of state</a:t>
            </a:r>
            <a:endParaRPr sz="2300">
              <a:solidFill>
                <a:srgbClr val="383838"/>
              </a:solidFill>
            </a:endParaRPr>
          </a:p>
          <a:p>
            <a:pPr indent="-170498" lvl="1" marL="581343" rtl="0" algn="l">
              <a:spcBef>
                <a:spcPts val="0"/>
              </a:spcBef>
              <a:spcAft>
                <a:spcPts val="0"/>
              </a:spcAft>
              <a:buClr>
                <a:srgbClr val="AC1F25"/>
              </a:buClr>
              <a:buSzPts val="2300"/>
              <a:buChar char="•"/>
            </a:pPr>
            <a:r>
              <a:rPr b="1" lang="en" sz="2300">
                <a:solidFill>
                  <a:srgbClr val="AC1F25"/>
                </a:solidFill>
              </a:rPr>
              <a:t>Synchronous sequential circuits: </a:t>
            </a:r>
            <a:r>
              <a:rPr lang="en" sz="2300">
                <a:solidFill>
                  <a:srgbClr val="383838"/>
                </a:solidFill>
              </a:rPr>
              <a:t>combinational logic followed by a bank of flip-flops</a:t>
            </a:r>
            <a:endParaRPr sz="2300">
              <a:solidFill>
                <a:srgbClr val="38383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Sequential Circuits</a:t>
            </a:r>
            <a:endParaRPr sz="5100"/>
          </a:p>
        </p:txBody>
      </p:sp>
      <p:sp>
        <p:nvSpPr>
          <p:cNvPr id="78" name="Google Shape;78;p16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20376"/>
          <a:stretch/>
        </p:blipFill>
        <p:spPr>
          <a:xfrm>
            <a:off x="1921625" y="1860423"/>
            <a:ext cx="5624276" cy="28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-48475" y="939325"/>
            <a:ext cx="927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sequential circuit consists of a feedback path, and employs some memory elements.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Memory Elements</a:t>
            </a:r>
            <a:endParaRPr sz="5100"/>
          </a:p>
        </p:txBody>
      </p:sp>
      <p:sp>
        <p:nvSpPr>
          <p:cNvPr id="88" name="Google Shape;88;p17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525" y="1158525"/>
            <a:ext cx="54864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State Elements</a:t>
            </a:r>
            <a:endParaRPr sz="5100"/>
          </a:p>
        </p:txBody>
      </p:sp>
      <p:sp>
        <p:nvSpPr>
          <p:cNvPr id="97" name="Google Shape;97;p18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-87925" y="988375"/>
            <a:ext cx="9144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</a:rPr>
              <a:t>The state of a circuit influences its future behavior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</a:rPr>
              <a:t>State elements store state</a:t>
            </a:r>
            <a:endParaRPr>
              <a:solidFill>
                <a:schemeClr val="dk1"/>
              </a:solidFill>
            </a:endParaRPr>
          </a:p>
          <a:p>
            <a:pPr indent="-202248" lvl="1" marL="581343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</a:rPr>
              <a:t>Bistable circuit</a:t>
            </a:r>
            <a:endParaRPr>
              <a:solidFill>
                <a:schemeClr val="dk1"/>
              </a:solidFill>
            </a:endParaRPr>
          </a:p>
          <a:p>
            <a:pPr indent="-202248" lvl="1" marL="581343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</a:rPr>
              <a:t>SR Latch</a:t>
            </a:r>
            <a:endParaRPr>
              <a:solidFill>
                <a:schemeClr val="dk1"/>
              </a:solidFill>
            </a:endParaRPr>
          </a:p>
          <a:p>
            <a:pPr indent="-202248" lvl="1" marL="581343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</a:rPr>
              <a:t>D Latch</a:t>
            </a:r>
            <a:endParaRPr>
              <a:solidFill>
                <a:schemeClr val="dk1"/>
              </a:solidFill>
            </a:endParaRPr>
          </a:p>
          <a:p>
            <a:pPr indent="-202248" lvl="1" marL="581343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</a:rPr>
              <a:t>D Flip-flop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33E4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Bistable Circuits</a:t>
            </a:r>
            <a:endParaRPr sz="5100"/>
          </a:p>
        </p:txBody>
      </p:sp>
      <p:sp>
        <p:nvSpPr>
          <p:cNvPr id="106" name="Google Shape;106;p19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2452" l="14634" r="47580" t="51548"/>
          <a:stretch/>
        </p:blipFill>
        <p:spPr>
          <a:xfrm>
            <a:off x="115275" y="1073300"/>
            <a:ext cx="2217026" cy="14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808" y="1140775"/>
            <a:ext cx="6408792" cy="35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b="2452" l="59371" r="14330" t="51548"/>
          <a:stretch/>
        </p:blipFill>
        <p:spPr>
          <a:xfrm>
            <a:off x="212825" y="2804225"/>
            <a:ext cx="1543025" cy="14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     Set-Reset (SR) Latch</a:t>
            </a:r>
            <a:endParaRPr sz="5100"/>
          </a:p>
        </p:txBody>
      </p:sp>
      <p:sp>
        <p:nvSpPr>
          <p:cNvPr id="117" name="Google Shape;117;p20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1575"/>
            <a:ext cx="4850800" cy="29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200" y="1140775"/>
            <a:ext cx="3988400" cy="273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     Set-Reset (SR) Latch</a:t>
            </a:r>
            <a:endParaRPr sz="5100"/>
          </a:p>
        </p:txBody>
      </p:sp>
      <p:sp>
        <p:nvSpPr>
          <p:cNvPr id="127" name="Google Shape;127;p21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0775"/>
            <a:ext cx="4059401" cy="2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4201" y="1140775"/>
            <a:ext cx="4627399" cy="264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        Gated (SR) Latch</a:t>
            </a:r>
            <a:endParaRPr sz="5100"/>
          </a:p>
        </p:txBody>
      </p:sp>
      <p:sp>
        <p:nvSpPr>
          <p:cNvPr id="137" name="Google Shape;137;p22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750" y="1043225"/>
            <a:ext cx="6286500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Gated D-Latch</a:t>
            </a:r>
            <a:endParaRPr sz="5100"/>
          </a:p>
        </p:txBody>
      </p:sp>
      <p:sp>
        <p:nvSpPr>
          <p:cNvPr id="146" name="Google Shape;146;p23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4350"/>
            <a:ext cx="4292249" cy="26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919075"/>
            <a:ext cx="38385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8049" y="2571750"/>
            <a:ext cx="4352925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D-Flip Flop</a:t>
            </a:r>
            <a:endParaRPr sz="5100"/>
          </a:p>
        </p:txBody>
      </p:sp>
      <p:sp>
        <p:nvSpPr>
          <p:cNvPr id="157" name="Google Shape;157;p24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32414" t="0"/>
          <a:stretch/>
        </p:blipFill>
        <p:spPr>
          <a:xfrm>
            <a:off x="11975" y="848150"/>
            <a:ext cx="3259475" cy="26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450" y="1353600"/>
            <a:ext cx="5744100" cy="330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b="41291" l="70124" r="1662" t="20729"/>
          <a:stretch/>
        </p:blipFill>
        <p:spPr>
          <a:xfrm>
            <a:off x="616825" y="3564975"/>
            <a:ext cx="1360749" cy="9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Timing Diagrams</a:t>
            </a:r>
            <a:endParaRPr sz="5100"/>
          </a:p>
        </p:txBody>
      </p:sp>
      <p:sp>
        <p:nvSpPr>
          <p:cNvPr id="168" name="Google Shape;168;p25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0775"/>
            <a:ext cx="8944200" cy="2800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  Triggering: Level vs Edge</a:t>
            </a:r>
            <a:endParaRPr sz="5100"/>
          </a:p>
        </p:txBody>
      </p:sp>
      <p:sp>
        <p:nvSpPr>
          <p:cNvPr id="177" name="Google Shape;177;p26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6450"/>
            <a:ext cx="3724275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 rotWithShape="1">
          <a:blip r:embed="rId4">
            <a:alphaModFix/>
          </a:blip>
          <a:srcRect b="0" l="0" r="0" t="5625"/>
          <a:stretch/>
        </p:blipFill>
        <p:spPr>
          <a:xfrm>
            <a:off x="3792371" y="2394975"/>
            <a:ext cx="5119404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>
            <p:ph type="ctrTitle"/>
          </p:nvPr>
        </p:nvSpPr>
        <p:spPr>
          <a:xfrm>
            <a:off x="11975" y="-1064225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T- Flip Flop</a:t>
            </a:r>
            <a:endParaRPr sz="5100"/>
          </a:p>
        </p:txBody>
      </p:sp>
      <p:sp>
        <p:nvSpPr>
          <p:cNvPr id="187" name="Google Shape;187;p27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8375"/>
            <a:ext cx="2264325" cy="19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00" y="2952337"/>
            <a:ext cx="2826900" cy="18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3128025" y="3839375"/>
            <a:ext cx="39216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Q(n+1) = TQn’ + T’Qn = T ⊕ Qn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2300" y="1067825"/>
            <a:ext cx="378142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>
            <p:ph type="ctrTitle"/>
          </p:nvPr>
        </p:nvSpPr>
        <p:spPr>
          <a:xfrm>
            <a:off x="11975" y="-10277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S-R Flip Flop</a:t>
            </a:r>
            <a:endParaRPr sz="5100"/>
          </a:p>
        </p:txBody>
      </p:sp>
      <p:sp>
        <p:nvSpPr>
          <p:cNvPr id="199" name="Google Shape;199;p28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625" y="979275"/>
            <a:ext cx="2417639" cy="349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" y="796850"/>
            <a:ext cx="27336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3664" y="1177250"/>
            <a:ext cx="31432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5909550" y="2777450"/>
            <a:ext cx="36114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Q(n+1) = S+Q(n)R’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 rotWithShape="1">
          <a:blip r:embed="rId6">
            <a:alphaModFix/>
          </a:blip>
          <a:srcRect b="17459" l="17806" r="20919" t="22191"/>
          <a:stretch/>
        </p:blipFill>
        <p:spPr>
          <a:xfrm>
            <a:off x="11975" y="3228905"/>
            <a:ext cx="3143250" cy="1551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 txBox="1"/>
          <p:nvPr>
            <p:ph type="ctrTitle"/>
          </p:nvPr>
        </p:nvSpPr>
        <p:spPr>
          <a:xfrm>
            <a:off x="11975" y="-10277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J-K Flip Flop</a:t>
            </a:r>
            <a:endParaRPr sz="5100"/>
          </a:p>
        </p:txBody>
      </p:sp>
      <p:sp>
        <p:nvSpPr>
          <p:cNvPr id="212" name="Google Shape;212;p29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6250" y="1544410"/>
            <a:ext cx="1824754" cy="35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0" y="958150"/>
            <a:ext cx="3769050" cy="25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1150" y="1024847"/>
            <a:ext cx="3370160" cy="13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/>
          <p:cNvPicPr preferRelativeResize="0"/>
          <p:nvPr/>
        </p:nvPicPr>
        <p:blipFill rotWithShape="1">
          <a:blip r:embed="rId6">
            <a:alphaModFix/>
          </a:blip>
          <a:srcRect b="0" l="0" r="0" t="5105"/>
          <a:stretch/>
        </p:blipFill>
        <p:spPr>
          <a:xfrm>
            <a:off x="4922300" y="2571750"/>
            <a:ext cx="3399900" cy="1896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 txBox="1"/>
          <p:nvPr>
            <p:ph type="ctrTitle"/>
          </p:nvPr>
        </p:nvSpPr>
        <p:spPr>
          <a:xfrm>
            <a:off x="11975" y="-10277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Building different FF from D-FF</a:t>
            </a:r>
            <a:endParaRPr sz="4600"/>
          </a:p>
        </p:txBody>
      </p:sp>
      <p:sp>
        <p:nvSpPr>
          <p:cNvPr id="224" name="Google Shape;224;p30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1447400" y="2549350"/>
            <a:ext cx="9120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SR</a:t>
            </a:r>
            <a:r>
              <a:rPr b="1" lang="en" sz="1800">
                <a:solidFill>
                  <a:schemeClr val="dk2"/>
                </a:solidFill>
              </a:rPr>
              <a:t>-FF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6224538" y="2571750"/>
            <a:ext cx="9120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T-FF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5474450" y="3980450"/>
            <a:ext cx="9120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JK-FF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400" y="3032025"/>
            <a:ext cx="3875822" cy="1641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525" y="885825"/>
            <a:ext cx="27146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546" y="981196"/>
            <a:ext cx="3302022" cy="16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1"/>
          <p:cNvSpPr txBox="1"/>
          <p:nvPr>
            <p:ph type="ctrTitle"/>
          </p:nvPr>
        </p:nvSpPr>
        <p:spPr>
          <a:xfrm>
            <a:off x="11975" y="-10277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Building different FF from SR-FF</a:t>
            </a:r>
            <a:endParaRPr sz="4600"/>
          </a:p>
        </p:txBody>
      </p:sp>
      <p:sp>
        <p:nvSpPr>
          <p:cNvPr id="238" name="Google Shape;238;p31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1"/>
          <p:cNvPicPr preferRelativeResize="0"/>
          <p:nvPr/>
        </p:nvPicPr>
        <p:blipFill rotWithShape="1">
          <a:blip r:embed="rId3">
            <a:alphaModFix/>
          </a:blip>
          <a:srcRect b="0" l="10897" r="0" t="0"/>
          <a:stretch/>
        </p:blipFill>
        <p:spPr>
          <a:xfrm>
            <a:off x="519825" y="1024850"/>
            <a:ext cx="30044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875" y="904863"/>
            <a:ext cx="27432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1409700" y="2423625"/>
            <a:ext cx="9120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D-FF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5815950" y="2343750"/>
            <a:ext cx="9120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</a:t>
            </a:r>
            <a:r>
              <a:rPr b="1" lang="en" sz="1800">
                <a:solidFill>
                  <a:schemeClr val="dk2"/>
                </a:solidFill>
              </a:rPr>
              <a:t>-FF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4100" y="2724138"/>
            <a:ext cx="2866624" cy="1949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1"/>
          <p:cNvSpPr txBox="1"/>
          <p:nvPr/>
        </p:nvSpPr>
        <p:spPr>
          <a:xfrm>
            <a:off x="5474450" y="3980450"/>
            <a:ext cx="9120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JK</a:t>
            </a:r>
            <a:r>
              <a:rPr b="1" lang="en" sz="1800">
                <a:solidFill>
                  <a:schemeClr val="dk2"/>
                </a:solidFill>
              </a:rPr>
              <a:t>-FF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56435" y="481828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3444356" y="481828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2"/>
          <p:cNvSpPr txBox="1"/>
          <p:nvPr>
            <p:ph type="ctrTitle"/>
          </p:nvPr>
        </p:nvSpPr>
        <p:spPr>
          <a:xfrm>
            <a:off x="304375" y="-12418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    Excitation Table for Flip Flops</a:t>
            </a:r>
            <a:endParaRPr sz="4200"/>
          </a:p>
        </p:txBody>
      </p:sp>
      <p:sp>
        <p:nvSpPr>
          <p:cNvPr id="252" name="Google Shape;252;p32"/>
          <p:cNvSpPr/>
          <p:nvPr/>
        </p:nvSpPr>
        <p:spPr>
          <a:xfrm>
            <a:off x="3444356" y="481828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0" l="6768" r="20689" t="15683"/>
          <a:stretch/>
        </p:blipFill>
        <p:spPr>
          <a:xfrm>
            <a:off x="1248475" y="839681"/>
            <a:ext cx="6514350" cy="39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/>
          <p:nvPr/>
        </p:nvSpPr>
        <p:spPr>
          <a:xfrm>
            <a:off x="56435" y="481828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3444356" y="481828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3"/>
          <p:cNvSpPr txBox="1"/>
          <p:nvPr>
            <p:ph type="ctrTitle"/>
          </p:nvPr>
        </p:nvSpPr>
        <p:spPr>
          <a:xfrm>
            <a:off x="304375" y="-12418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Flip-Flop Interconversion</a:t>
            </a:r>
            <a:endParaRPr sz="4200"/>
          </a:p>
        </p:txBody>
      </p:sp>
      <p:sp>
        <p:nvSpPr>
          <p:cNvPr id="261" name="Google Shape;261;p33"/>
          <p:cNvSpPr/>
          <p:nvPr/>
        </p:nvSpPr>
        <p:spPr>
          <a:xfrm>
            <a:off x="3444356" y="481828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54725" y="1076125"/>
            <a:ext cx="8944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Identify</a:t>
            </a:r>
            <a:r>
              <a:rPr lang="en" sz="1600"/>
              <a:t> the available FF and required FF. For example: if you want to construct a T-FF using an SR-FF, your available FF is SR and required is T.</a:t>
            </a:r>
            <a:endParaRPr sz="16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Construct the characteristic table of the required FF.</a:t>
            </a:r>
            <a:endParaRPr sz="16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Construct the excitation table of the available FF.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Make a connection between the characteristic table and the excitation table.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Find a boolean expression for the inputs to the available FF.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56435" y="481828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3444356" y="481828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4"/>
          <p:cNvSpPr txBox="1"/>
          <p:nvPr>
            <p:ph type="ctrTitle"/>
          </p:nvPr>
        </p:nvSpPr>
        <p:spPr>
          <a:xfrm>
            <a:off x="304375" y="-12418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Flip-Flop Interconversion</a:t>
            </a:r>
            <a:endParaRPr sz="4200"/>
          </a:p>
        </p:txBody>
      </p:sp>
      <p:sp>
        <p:nvSpPr>
          <p:cNvPr id="270" name="Google Shape;270;p34"/>
          <p:cNvSpPr/>
          <p:nvPr/>
        </p:nvSpPr>
        <p:spPr>
          <a:xfrm>
            <a:off x="3444356" y="481828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3">
            <a:alphaModFix/>
          </a:blip>
          <a:srcRect b="0" l="14001" r="0" t="0"/>
          <a:stretch/>
        </p:blipFill>
        <p:spPr>
          <a:xfrm>
            <a:off x="0" y="810750"/>
            <a:ext cx="4267626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026" y="963150"/>
            <a:ext cx="4571575" cy="193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5"/>
          <p:cNvSpPr txBox="1"/>
          <p:nvPr>
            <p:ph type="ctrTitle"/>
          </p:nvPr>
        </p:nvSpPr>
        <p:spPr>
          <a:xfrm>
            <a:off x="11975" y="-10277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   Asynchronous Inputs</a:t>
            </a:r>
            <a:endParaRPr sz="5100"/>
          </a:p>
        </p:txBody>
      </p:sp>
      <p:sp>
        <p:nvSpPr>
          <p:cNvPr id="280" name="Google Shape;280;p35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54725" y="1076125"/>
            <a:ext cx="8944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S-R, D and J-K inputs are synchronous inputs, as data on these inputs are transferred to the flip-flop’s output only on the triggered edge of the clock pulse.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Asynchronous inputs affect the state of the flip-flop independent of the clock; example: preset (PRE) and clear (CLR) [or direct set (SD) and direct reset (RD)]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When PRE=HIGH, Q is immediately set to HIGH.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When CLR=HIGH, Q is immediately cleared to LOW.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Flip-flop in normal operation mode when both PRE and CLR are LOW.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6"/>
          <p:cNvSpPr txBox="1"/>
          <p:nvPr>
            <p:ph type="ctrTitle"/>
          </p:nvPr>
        </p:nvSpPr>
        <p:spPr>
          <a:xfrm>
            <a:off x="11975" y="-1027750"/>
            <a:ext cx="89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      Asynchronous Inputs</a:t>
            </a:r>
            <a:endParaRPr sz="5100"/>
          </a:p>
        </p:txBody>
      </p:sp>
      <p:sp>
        <p:nvSpPr>
          <p:cNvPr id="289" name="Google Shape;289;p36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7250"/>
            <a:ext cx="8839199" cy="3143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/>
          <p:nvPr/>
        </p:nvSpPr>
        <p:spPr>
          <a:xfrm>
            <a:off x="11985" y="4825539"/>
            <a:ext cx="3399900" cy="31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7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EEE282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 txBox="1"/>
          <p:nvPr>
            <p:ph type="ctrTitle"/>
          </p:nvPr>
        </p:nvSpPr>
        <p:spPr>
          <a:xfrm>
            <a:off x="11975" y="-1027750"/>
            <a:ext cx="9207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 Application: Frequency Division</a:t>
            </a:r>
            <a:endParaRPr sz="4900"/>
          </a:p>
        </p:txBody>
      </p:sp>
      <p:sp>
        <p:nvSpPr>
          <p:cNvPr id="298" name="Google Shape;298;p37"/>
          <p:cNvSpPr/>
          <p:nvPr/>
        </p:nvSpPr>
        <p:spPr>
          <a:xfrm>
            <a:off x="3399906" y="4825539"/>
            <a:ext cx="5744100" cy="325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EEE283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7250"/>
            <a:ext cx="425767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475" y="1177250"/>
            <a:ext cx="4429125" cy="289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